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افتتاحية" id="{6525e30c-7b09-e815-558d-3e44ddb62dbe}">
          <p14:sldIdLst>
            <p14:sldId id="256"/>
            <p14:sldId id="257"/>
            <p14:sldId id="258"/>
          </p14:sldIdLst>
        </p14:section>
        <p14:section name="رحلة العميل" id="{cd8d27a4-46a7-b0fd-56ed-3c9b274e225a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الحالات والنظام" id="{3d5919ae-60bf-1c47-0daf-14de5c5e9be8}">
          <p14:sldIdLst>
            <p14:sldId id="268"/>
            <p14:sldId id="269"/>
            <p14:sldId id="270"/>
          </p14:sldIdLst>
        </p14:section>
        <p14:section name="الخطوة الجاية" id="{73e087ab-0565-5489-52df-917d60fa001f}">
          <p14:sldIdLst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النهارده هحكيلكم عن حازم: مساعد واتساب لمكتب الأستاذ سعد. هنمشي مع عميل حقيقي من أول رسالة بالليل لحد ما يقعد قدام الأستاذ، وبعدها نشوف النظام من جوه وإيه المطلوب من المكتب.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التلات مشاكل دي اللي بنحلها: رسايل بالليل محدش بيرد عليها، وأسئلة متكررة بتاخد وقت الموظفين، وورق مهم متبعتر في الشات.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حازم شغال 24 ساعة، بس بيحترم مواعيد المكتب: لو العميل كتب بالليل بيقوله إن المراجعة الصبح. والأهم: صفر آراء قانونية من الآلة.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دلوقتي هنمشي مع عميل اسمه أحمد، والاسم مثال. في كل لقطة هتشوفوا الشاشة اللي العميل شايفها، وجنبها اللي بيحصل في النظام في نفس اللحظة.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العميل بيبعت تلات رسايل ورا بعض الساعة 12 إلا 8 بالليل. حازم ما بيردش على كل رسالة لوحدها. بيستنى 8 ثواني لحد ما العميل يخلّص كلامه، وبعدين يرد مرة واحدة.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أول حاجة حازم بيعملها إنه يرحّب ويطلب الاسم رباعي. وفي نفس اللحظة النظام بيشوف الرقم ده: عميل جديد، ولا موكل حالي، ولا رقم ممنوع. الاسم ده مثال.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هنا حازم بيعرض الاستشارة بالأسعار الرسمية. النقطة المهمة: الذكاء الاصطناعي ما بيكتبش الرد، هو بيفهم العميل عاوز إيه بس، والرد نص المكتب وافق عليه.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الدفع الأول، وبعدين الميعاد. ده قرار المكتب، عشان ما يبقاش فيه مواعيد محجوزة لناس مش جادين.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العميل بعت صورة الإيصال بالليل. حازم بيقوله بوضوح إن المراجعة بكرة الساعة 10، مش «خلال ساعة»، لأن المكتب قافل. والصورة متخزنة في مكان آمن، ومحدش بيبعتها لأي ذكاء اصطناعي.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الصبح الموظف بيلاقي الإيصال مستنيه في اللوحة. بيراجعه ويحدد الميعاد، وحازم بيبعت التأكيد للعميل. القرار هنا بشري.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تذكيرين: قبل الميعاد بيوم وقبله بساعتين. وده بيقلل إن العميل ينسى أو ما يجيش. والرسايل دي قوالب Meta موافقة عليها، لأن واتساب له قواعد صارمة.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آخر لقطة: الأستاذ قدامه كارت فيه كل حاجة عن العميل. وقت الاستشارة كله بيروح في الموضوع نفسه، مش في «احكيلي حصل إيه».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مش كل العملاء بيمشوا الطريق العادي. دي ست حالات بتحصل كل يوم، وكل واحدة ليها قاعدة واضحة.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النظام متقسم على جزأين: n8n هو اللي بيكلّم واتساب، و.NET هو العقل اللي بيقرر. والداتابيز نفسها بتمنع أي جزء يكتب في جداول التاني، فمفيش لخبطة.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دي الحدود اللي اتفقنا عليها مع المكتب. كل قاعدة ليها رقم في ملف القرارات، ومتطبقة في الكود وعليها اختبارات أوتوماتيك.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عشان حازم يشتغل مع عملاء حقيقيين، محتاجين خمس حاجات من المكتب. أهمهم توثيق Meta لأنه بياخد أيام، فالأحسن يبدأ النهارده.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المرحلة الجاية حازم يبتدي يفهم العميل ويرد بالنصوص المعتمدة. وفي نفس الوقت محتاجين المكتب يبدأ توثيق Meta، عشان أول ما نخلص نجرب على واتساب الحقيقي.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4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EN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حازم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مساعد واتساب لمكتب الأستاذ سعد فتحي سعد للمحاماة</a:t>
            </a:r>
            <a:endParaRPr lang="en-US" sz="2400" dirty="0"/>
          </a:p>
          <a:p>
            <a:pPr algn="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ستوري بورد المشروع · أكتوبر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المكتب بيخسر عملاء بالليل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accent6"/>
                </a:solidFill>
              </a:rPr>
              <a:t>أغلب الناس بتكتب للمحامي وقت المشكلة، مش وقت مواعيد المكتب.</a:t>
            </a:r>
            <a:endParaRPr lang="ar-EG" sz="1800" dirty="0"/>
          </a:p>
        </p:txBody>
      </p:sp>
      <p:sp>
        <p:nvSpPr>
          <p:cNvPr id="4" name="problem 1"/>
          <p:cNvSpPr/>
          <p:nvPr/>
        </p:nvSpPr>
        <p:spPr>
          <a:xfrm>
            <a:off x="8188757" y="210312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10774375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74375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1</a:t>
            </a:r>
            <a:endParaRPr lang="ar-EG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508797" y="3108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رسايل من غير رد</a:t>
            </a:r>
            <a:endParaRPr lang="ar-EG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508797" y="3703320"/>
            <a:ext cx="28142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6"/>
                </a:solidFill>
              </a:rPr>
              <a:t>عميل يكتب الساعة 2‏ الفجر، ولما الموظف يرد الصبح يكون كلّم مكتب تاني.</a:t>
            </a:r>
            <a:endParaRPr lang="ar-EG" sz="1600" dirty="0"/>
          </a:p>
        </p:txBody>
      </p:sp>
      <p:sp>
        <p:nvSpPr>
          <p:cNvPr id="9" name="problem 2"/>
          <p:cNvSpPr/>
          <p:nvPr/>
        </p:nvSpPr>
        <p:spPr>
          <a:xfrm>
            <a:off x="4368698" y="210312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6954317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54317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2</a:t>
            </a:r>
            <a:endParaRPr lang="ar-EG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88738" y="3108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نفس الأسئلة كل يوم</a:t>
            </a:r>
            <a:endParaRPr lang="ar-EG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88738" y="3703320"/>
            <a:ext cx="28142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6"/>
                </a:solidFill>
              </a:rPr>
              <a:t>الاستشارة بكام؟ المكتب فين؟ أدفع إزاي؟ الموظف بيضيّع وقته في ردود متكررة.</a:t>
            </a:r>
            <a:endParaRPr lang="ar-EG" sz="1600" dirty="0"/>
          </a:p>
        </p:txBody>
      </p:sp>
      <p:sp>
        <p:nvSpPr>
          <p:cNvPr id="14" name="problem 3"/>
          <p:cNvSpPr/>
          <p:nvPr/>
        </p:nvSpPr>
        <p:spPr>
          <a:xfrm>
            <a:off x="548640" y="2103120"/>
            <a:ext cx="3454298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3134258" y="2377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134258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3</a:t>
            </a:r>
            <a:endParaRPr lang="ar-EG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3108960"/>
            <a:ext cx="28142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ورق وإيصالات متلخبطة</a:t>
            </a:r>
            <a:endParaRPr lang="ar-EG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3703320"/>
            <a:ext cx="28142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accent6"/>
                </a:solidFill>
              </a:rPr>
              <a:t>صور بطاقات وإيصالات وعقود في محادثات متفرقة، من غير مراجعة ولا سجل.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الفكرة في 3‏ أرقام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944917" y="2194560"/>
            <a:ext cx="3423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6000" b="1" dirty="0">
                <a:solidFill>
                  <a:schemeClr val="accent1"/>
                </a:solidFill>
              </a:rPr>
              <a:t>24‏ ساعة</a:t>
            </a:r>
            <a:endParaRPr lang="ar-EG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944917" y="356616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accent6"/>
                </a:solidFill>
              </a:rPr>
              <a:t>حازم بيستقبل الرسايل طول اليوم</a:t>
            </a:r>
            <a:endParaRPr lang="ar-EG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46778" y="2194560"/>
            <a:ext cx="3423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6000" b="1" dirty="0">
                <a:solidFill>
                  <a:schemeClr val="accent1"/>
                </a:solidFill>
              </a:rPr>
              <a:t>14‏ ساعة</a:t>
            </a:r>
            <a:endParaRPr lang="ar-EG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246778" y="356616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accent6"/>
                </a:solidFill>
              </a:rPr>
              <a:t>مواعيد المكتب، من 10‏ الصبح لـ 12‏ بالليل</a:t>
            </a:r>
            <a:endParaRPr lang="ar-EG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94560"/>
            <a:ext cx="342381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ar-EG" altLang="en-US" sz="6000" b="1" dirty="0">
                <a:solidFill>
                  <a:schemeClr val="accent1"/>
                </a:solidFill>
              </a:rPr>
              <a:t>صفر</a:t>
            </a:r>
            <a:endParaRPr lang="ar-EG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accent6"/>
                </a:solidFill>
              </a:rPr>
              <a:t>آراء قانونية من الآلة. القرار للمكتب</a:t>
            </a:r>
            <a:endParaRPr lang="ar-EG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i="1" dirty="0">
                <a:solidFill>
                  <a:schemeClr val="tx1"/>
                </a:solidFill>
              </a:rPr>
              <a:t>العميل يكتب في أي وقت، وحازم يستقبله ويرتّب طلبه ويمشّيه لحد ميعاد مع الأستاذ.</a:t>
            </a:r>
            <a:endParaRPr lang="ar-EG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رحلة عميل جديد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8‏ لقطات، من أول رسالة الساعة 12‏ إلا 8‏ بالليل لحد ما يقعد قدام الأستاذ. الاسم والمواعيد أمثلة.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01‏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العميل يكتب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11:52‏ م</a:t>
            </a:r>
            <a:endParaRPr lang="ar-EG" sz="1400" dirty="0"/>
          </a:p>
        </p:txBody>
      </p:sp>
      <p:sp>
        <p:nvSpPr>
          <p:cNvPr id="4" name="scene 01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1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1333561" y="1280160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470721" y="1353312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السلام عليكم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43289" y="168427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11:52:01 م</a:t>
            </a:r>
            <a:endParaRPr lang="ar-EG" sz="800" dirty="0"/>
          </a:p>
        </p:txBody>
      </p:sp>
      <p:sp>
        <p:nvSpPr>
          <p:cNvPr id="12" name="Shape 10"/>
          <p:cNvSpPr/>
          <p:nvPr/>
        </p:nvSpPr>
        <p:spPr>
          <a:xfrm>
            <a:off x="1333561" y="2050034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70721" y="2123186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عندي مشكلة مع المطور في التجمع</a:t>
            </a:r>
            <a:endParaRPr lang="ar-EG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3289" y="24541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11:52:04 م</a:t>
            </a:r>
            <a:endParaRPr lang="ar-EG" sz="800" dirty="0"/>
          </a:p>
        </p:txBody>
      </p:sp>
      <p:sp>
        <p:nvSpPr>
          <p:cNvPr id="15" name="Shape 13"/>
          <p:cNvSpPr/>
          <p:nvPr/>
        </p:nvSpPr>
        <p:spPr>
          <a:xfrm>
            <a:off x="1333561" y="2819908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470721" y="2893060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محتاج أفهم أعمل إيه</a:t>
            </a:r>
            <a:endParaRPr lang="ar-EG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43289" y="322402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11:52:07 م</a:t>
            </a:r>
            <a:endParaRPr lang="ar-EG" sz="800" dirty="0"/>
          </a:p>
        </p:txBody>
      </p:sp>
      <p:sp>
        <p:nvSpPr>
          <p:cNvPr id="18" name="behind the scenes 01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n8n · طبقة الواتساب</a:t>
            </a:r>
            <a:endParaRPr lang="ar-EG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Meta بتبعت كل رسالة لوحدها. n8n بيتأكد إنها جاية من Meta فعلًا، ويحفظها مرة واحدة، ويستنى 8‏ ثواني من غير رسايل جديدة. بعدها الـ 3‏ رسايل بيبقوا دور واحد ورد واحد.</a:t>
            </a:r>
            <a:endParaRPr lang="ar-EG" sz="2000" dirty="0"/>
          </a:p>
        </p:txBody>
      </p:sp>
      <p:sp>
        <p:nvSpPr>
          <p:cNvPr id="21" name="Shape 19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8 ثواني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02‏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الترحيب والاسم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11:52‏ م</a:t>
            </a:r>
            <a:endParaRPr lang="ar-EG" sz="1400" dirty="0"/>
          </a:p>
        </p:txBody>
      </p:sp>
      <p:sp>
        <p:nvSpPr>
          <p:cNvPr id="4" name="scene 02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2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3585911" cy="899668"/>
          </a:xfrm>
          <a:prstGeom prst="roundRect">
            <a:avLst>
              <a:gd name="adj" fmla="val 12196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86968" y="1353312"/>
            <a:ext cx="3311591" cy="60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أهلًا بحضرتك في مكتب الأستاذ سعد فتحي سعد للمحاماة، معاك حازم. ممكن اسم حضرتك رباعي؟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194208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11:52 م</a:t>
            </a:r>
            <a:endParaRPr lang="ar-EG" sz="800" dirty="0"/>
          </a:p>
        </p:txBody>
      </p:sp>
      <p:sp>
        <p:nvSpPr>
          <p:cNvPr id="12" name="Shape 10"/>
          <p:cNvSpPr/>
          <p:nvPr/>
        </p:nvSpPr>
        <p:spPr>
          <a:xfrm>
            <a:off x="1333561" y="2307844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70721" y="2380996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أحمد محمود عبد الله السيد</a:t>
            </a:r>
            <a:endParaRPr lang="ar-EG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3289" y="271195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11:53 م</a:t>
            </a:r>
            <a:endParaRPr lang="ar-EG" sz="800" dirty="0"/>
          </a:p>
        </p:txBody>
      </p:sp>
      <p:sp>
        <p:nvSpPr>
          <p:cNvPr id="15" name="behind the scenes 02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العقل</a:t>
            </a:r>
            <a:endParaRPr lang="ar-EG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الرقم بيتراجع على القوائم بالترتيب: الممنوعين، وقائمة الأستاذ، والموكلين الحاليين. لو موكل حالي، حازم يحوّله للموظف المسؤول من غير ما يقول أي معلومة عن قضيته.</a:t>
            </a:r>
            <a:endParaRPr lang="ar-EG" sz="2000" dirty="0"/>
          </a:p>
        </p:txBody>
      </p:sp>
      <p:sp>
        <p:nvSpPr>
          <p:cNvPr id="18" name="Shape 16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B-01</a:t>
            </a:r>
            <a:endParaRPr lang="ar-EG" sz="1100" dirty="0"/>
          </a:p>
        </p:txBody>
      </p:sp>
      <p:sp>
        <p:nvSpPr>
          <p:cNvPr id="20" name="Shape 18"/>
          <p:cNvSpPr/>
          <p:nvPr/>
        </p:nvSpPr>
        <p:spPr>
          <a:xfrm>
            <a:off x="921989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1989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B-14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03‏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عرض الاستشارة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11:53‏ م</a:t>
            </a:r>
            <a:endParaRPr lang="ar-EG" sz="1400" dirty="0"/>
          </a:p>
        </p:txBody>
      </p:sp>
      <p:sp>
        <p:nvSpPr>
          <p:cNvPr id="4" name="scene 03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3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3585911" cy="1415288"/>
          </a:xfrm>
          <a:prstGeom prst="roundRect">
            <a:avLst>
              <a:gd name="adj" fmla="val 775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86968" y="1353312"/>
            <a:ext cx="3311591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الأستاذ سعد هيسمع موضوع حضرتك بنفسه. متاح استشارة بالتليفون أو الفيديو، ربع ساعة بـ500‏ جنيه، أو مقابلة في المكتب، نص ساعة بـ1,000‏ جنيه. تحب أنهي واحدة؟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457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11:53 م</a:t>
            </a:r>
            <a:endParaRPr lang="ar-EG" sz="800" dirty="0"/>
          </a:p>
        </p:txBody>
      </p:sp>
      <p:sp>
        <p:nvSpPr>
          <p:cNvPr id="12" name="Shape 10"/>
          <p:cNvSpPr/>
          <p:nvPr/>
        </p:nvSpPr>
        <p:spPr>
          <a:xfrm>
            <a:off x="1333561" y="2823464"/>
            <a:ext cx="3585911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1470721" y="2896616"/>
            <a:ext cx="3311591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مقابلة في المكتب</a:t>
            </a:r>
            <a:endParaRPr lang="ar-EG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443289" y="322757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11:54 م</a:t>
            </a:r>
            <a:endParaRPr lang="ar-EG" sz="800" dirty="0"/>
          </a:p>
        </p:txBody>
      </p:sp>
      <p:sp>
        <p:nvSpPr>
          <p:cNvPr id="15" name="behind the scenes 03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AI · فهم النية</a:t>
            </a:r>
            <a:endParaRPr lang="ar-EG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الذكاء الاصطناعي بيفهم نية العميل بس، زي «عايز يحجز». أما الرد نفسه فبيتاخد من نصوص معتمدة من المكتب. حازم ما بيألّفش سعر ولا رأي.</a:t>
            </a:r>
            <a:endParaRPr lang="ar-EG" sz="2000" dirty="0"/>
          </a:p>
        </p:txBody>
      </p:sp>
      <p:sp>
        <p:nvSpPr>
          <p:cNvPr id="18" name="Shape 16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T-07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04‏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بيانات الدفع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11:54‏ م</a:t>
            </a:r>
            <a:endParaRPr lang="ar-EG" sz="1400" dirty="0"/>
          </a:p>
        </p:txBody>
      </p:sp>
      <p:sp>
        <p:nvSpPr>
          <p:cNvPr id="4" name="scene 04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4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3585911" cy="1673098"/>
          </a:xfrm>
          <a:prstGeom prst="roundRect">
            <a:avLst>
              <a:gd name="adj" fmla="val 6558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86968" y="1353312"/>
            <a:ext cx="3311591" cy="138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مقابلة في المكتب بـ1,000‏ جنيه. التحويل على InstaPay أو محفظة كاش. بعد التحويل ابعتلي صورة الإيصال هنا، والمكتب هيأكد الميعاد مع حضرتك. الاسترداد كامل لو الإلغاء خلال 24‏ ساعة من الدفع وقبل بداية الخدمة.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71551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11:54 م</a:t>
            </a:r>
            <a:endParaRPr lang="ar-EG" sz="800" dirty="0"/>
          </a:p>
        </p:txBody>
      </p:sp>
      <p:sp>
        <p:nvSpPr>
          <p:cNvPr id="12" name="behind the scenes 04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قواعد الحجز</a:t>
            </a:r>
            <a:endParaRPr lang="ar-EG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مفيش أي ميعاد بيتحجز قبل ما الدفع يتراجع، عشان تقويم الأستاذ ما يتملاش بحجوزات وهمية.</a:t>
            </a:r>
            <a:endParaRPr lang="ar-EG" sz="2000" dirty="0"/>
          </a:p>
        </p:txBody>
      </p:sp>
      <p:sp>
        <p:nvSpPr>
          <p:cNvPr id="15" name="Shape 13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B-08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05‏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الإيصال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الأحد 11:58‏ م</a:t>
            </a:r>
            <a:endParaRPr lang="ar-EG" sz="1400" dirty="0"/>
          </a:p>
        </p:txBody>
      </p:sp>
      <p:sp>
        <p:nvSpPr>
          <p:cNvPr id="4" name="scene 05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5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2724912" y="1280160"/>
            <a:ext cx="2194560" cy="641858"/>
          </a:xfrm>
          <a:prstGeom prst="roundRect">
            <a:avLst>
              <a:gd name="adj" fmla="val 1709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16552" y="1371600"/>
            <a:ext cx="329184" cy="458978"/>
          </a:xfrm>
          <a:prstGeom prst="rect">
            <a:avLst/>
          </a:prstGeom>
          <a:solidFill>
            <a:srgbClr val="D3DCD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16552" y="1371600"/>
            <a:ext cx="329184" cy="458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JPG</a:t>
            </a:r>
            <a:endParaRPr lang="ar-EG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862072" y="1335024"/>
            <a:ext cx="1463040" cy="3675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صورة الإيصال</a:t>
            </a:r>
            <a:endParaRPr lang="ar-EG" sz="1400" dirty="0"/>
          </a:p>
        </p:txBody>
      </p:sp>
      <p:sp>
        <p:nvSpPr>
          <p:cNvPr id="13" name="Shape 11"/>
          <p:cNvSpPr/>
          <p:nvPr/>
        </p:nvSpPr>
        <p:spPr>
          <a:xfrm>
            <a:off x="749808" y="2050034"/>
            <a:ext cx="3585911" cy="1157478"/>
          </a:xfrm>
          <a:prstGeom prst="roundRect">
            <a:avLst>
              <a:gd name="adj" fmla="val 948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86968" y="2123186"/>
            <a:ext cx="3311591" cy="864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استلمنا الإيصال، وهيتم مراجعته وتأكيد الحجز بكرة الساعة 10‏ الصبح. مواعيد العمل الرسمية من 10‏ الصبح لحد 12‏ بالليل.</a:t>
            </a:r>
            <a:endParaRPr lang="ar-EG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2969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11:58 م</a:t>
            </a:r>
            <a:endParaRPr lang="ar-EG" sz="800" dirty="0"/>
          </a:p>
        </p:txBody>
      </p:sp>
      <p:sp>
        <p:nvSpPr>
          <p:cNvPr id="16" name="behind the scenes 05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تخزين الملفات</a:t>
            </a:r>
            <a:endParaRPr lang="ar-EG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الصورة بتتنزل من Meta على طول، وتتحفظ في مخزن الملفات الحساسة. صور الإيصالات والبطاقات عمرها ما بتروح لأي ذكاء اصطناعي. وبعد الساعة 11‏ بالليل الوعد بيبقى «بكرة الساعة 10».</a:t>
            </a:r>
            <a:endParaRPr lang="ar-EG" sz="2000" dirty="0"/>
          </a:p>
        </p:txBody>
      </p:sp>
      <p:sp>
        <p:nvSpPr>
          <p:cNvPr id="19" name="Shape 17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T-09</a:t>
            </a:r>
            <a:endParaRPr lang="ar-EG" sz="1100" dirty="0"/>
          </a:p>
        </p:txBody>
      </p:sp>
      <p:sp>
        <p:nvSpPr>
          <p:cNvPr id="21" name="Shape 19"/>
          <p:cNvSpPr/>
          <p:nvPr/>
        </p:nvSpPr>
        <p:spPr>
          <a:xfrm>
            <a:off x="921989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1989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B-06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06‏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الموظف يأكد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الاثنين 10:20‏ ص</a:t>
            </a:r>
            <a:endParaRPr lang="ar-EG" sz="1400" dirty="0"/>
          </a:p>
        </p:txBody>
      </p:sp>
      <p:sp>
        <p:nvSpPr>
          <p:cNvPr id="4" name="scene 06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6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4169664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C6C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749808" y="128016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accent6"/>
                </a:solidFill>
              </a:rPr>
              <a:t>الموظف راجع الإيصال وحدد الميعاد</a:t>
            </a:r>
            <a:endParaRPr lang="ar-EG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1700784"/>
            <a:ext cx="3585911" cy="1157478"/>
          </a:xfrm>
          <a:prstGeom prst="roundRect">
            <a:avLst>
              <a:gd name="adj" fmla="val 948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86968" y="1773936"/>
            <a:ext cx="3311591" cy="864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تم تأكيد ميعاد حضرتك يوم الثلاثاء الساعة 6‏ مساءً ✅. التفاصيل: مقابلة في المكتب. لو محتاج أي حاجة ابعتلنا هنا.</a:t>
            </a:r>
            <a:endParaRPr lang="ar-EG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62051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10:20 ص</a:t>
            </a:r>
            <a:endParaRPr lang="ar-EG" sz="800" dirty="0"/>
          </a:p>
        </p:txBody>
      </p:sp>
      <p:sp>
        <p:nvSpPr>
          <p:cNvPr id="14" name="behind the scenes 06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الموظف</a:t>
            </a:r>
            <a:endParaRPr lang="ar-EG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الإيصال بيفتح مهمة مراجعة للموظف في لوحة المكتب. الموظف هو اللي بيقبل أو يرفض، وهو اللي بيحدد الميعاد. حازم بيبلّغ القرار بس.</a:t>
            </a:r>
            <a:endParaRPr lang="ar-EG" sz="2000" dirty="0"/>
          </a:p>
        </p:txBody>
      </p:sp>
      <p:sp>
        <p:nvSpPr>
          <p:cNvPr id="17" name="Shape 15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B-05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07‏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التذكير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الاثنين 6:00‏ م</a:t>
            </a:r>
            <a:endParaRPr lang="ar-EG" sz="1400" dirty="0"/>
          </a:p>
        </p:txBody>
      </p:sp>
      <p:sp>
        <p:nvSpPr>
          <p:cNvPr id="4" name="scene 07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7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1280160"/>
            <a:ext cx="3585911" cy="1415288"/>
          </a:xfrm>
          <a:prstGeom prst="roundRect">
            <a:avLst>
              <a:gd name="adj" fmla="val 7753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86968" y="1353312"/>
            <a:ext cx="3311591" cy="112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تذكير بميعاد حضرتك مع الأستاذ سعد بكرة الثلاثاء الساعة 6‏ مساءً. نوع الاستشارة: مقابلة في المكتب. التفاصيل: العنوان واللوكيشن. لو محتاج تغيّر الميعاد ابعتلنا هنا.</a:t>
            </a:r>
            <a:endParaRPr lang="ar-EG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245770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ar-EG" altLang="en-US" sz="800" dirty="0">
                <a:solidFill>
                  <a:schemeClr val="accent6"/>
                </a:solidFill>
              </a:rPr>
              <a:t>6:00 م</a:t>
            </a:r>
            <a:endParaRPr lang="ar-EG" sz="800" dirty="0"/>
          </a:p>
        </p:txBody>
      </p:sp>
      <p:sp>
        <p:nvSpPr>
          <p:cNvPr id="12" name="Shape 10"/>
          <p:cNvSpPr/>
          <p:nvPr/>
        </p:nvSpPr>
        <p:spPr>
          <a:xfrm>
            <a:off x="749808" y="2823464"/>
            <a:ext cx="4169664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C6C1"/>
            </a:solidFill>
            <a:prstDash val="dash"/>
          </a:ln>
        </p:spPr>
      </p:sp>
      <p:sp>
        <p:nvSpPr>
          <p:cNvPr id="13" name="Text 11"/>
          <p:cNvSpPr txBox="1"/>
          <p:nvPr/>
        </p:nvSpPr>
        <p:spPr>
          <a:xfrm>
            <a:off x="749808" y="2823464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accent6"/>
                </a:solidFill>
              </a:rPr>
              <a:t>وتذكير تاني قبل الميعاد بساعتين</a:t>
            </a:r>
            <a:endParaRPr lang="ar-EG" sz="1100" dirty="0"/>
          </a:p>
        </p:txBody>
      </p:sp>
      <p:sp>
        <p:nvSpPr>
          <p:cNvPr id="14" name="behind the scenes 07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قوالب Meta</a:t>
            </a:r>
            <a:endParaRPr lang="ar-EG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بعد 24‏ ساعة من آخر رسالة للعميل، واتساب ما بيسمحش برسالة عادية. التذكير بيتبعت كقالب Meta وافقت عليه مسبقًا.</a:t>
            </a:r>
            <a:endParaRPr lang="ar-EG" sz="2000" dirty="0"/>
          </a:p>
        </p:txBody>
      </p:sp>
      <p:sp>
        <p:nvSpPr>
          <p:cNvPr id="17" name="Shape 15"/>
          <p:cNvSpPr/>
          <p:nvPr/>
        </p:nvSpPr>
        <p:spPr>
          <a:xfrm>
            <a:off x="1031717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1717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M-02</a:t>
            </a:r>
            <a:endParaRPr lang="ar-EG" sz="1100" dirty="0"/>
          </a:p>
        </p:txBody>
      </p:sp>
      <p:sp>
        <p:nvSpPr>
          <p:cNvPr id="19" name="Shape 17"/>
          <p:cNvSpPr/>
          <p:nvPr/>
        </p:nvSpPr>
        <p:spPr>
          <a:xfrm>
            <a:off x="9219895" y="5166360"/>
            <a:ext cx="960120" cy="310896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19895" y="5166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3"/>
                </a:solidFill>
              </a:rPr>
              <a:t>M-03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577840" y="365760"/>
            <a:ext cx="6065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08‏  </a:t>
            </a:r>
            <a:pPr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قدام الأستاذ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577840" y="1188720"/>
            <a:ext cx="6065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الثلاثاء 6:00‏ م</a:t>
            </a:r>
            <a:endParaRPr lang="ar-EG" sz="1400" dirty="0"/>
          </a:p>
        </p:txBody>
      </p:sp>
      <p:sp>
        <p:nvSpPr>
          <p:cNvPr id="4" name="scene 08 phone"/>
          <p:cNvSpPr/>
          <p:nvPr/>
        </p:nvSpPr>
        <p:spPr>
          <a:xfrm>
            <a:off x="548640" y="411480"/>
            <a:ext cx="4572000" cy="598932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5" name="scene 08 phone header"/>
          <p:cNvSpPr/>
          <p:nvPr/>
        </p:nvSpPr>
        <p:spPr>
          <a:xfrm>
            <a:off x="566928" y="521208"/>
            <a:ext cx="4535424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4553712" y="630936"/>
            <a:ext cx="347472" cy="347472"/>
          </a:xfrm>
          <a:prstGeom prst="ellipse">
            <a:avLst/>
          </a:prstGeom>
          <a:solidFill>
            <a:schemeClr val="bg1">
              <a:alpha val="25000"/>
            </a:scheme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53712" y="630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ح</a:t>
            </a:r>
            <a:endParaRPr lang="ar-EG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55778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300" b="1" dirty="0">
                <a:solidFill>
                  <a:schemeClr val="bg1"/>
                </a:solidFill>
              </a:rPr>
              <a:t>مكتب الأستاذ سعد فتحي سعد</a:t>
            </a:r>
            <a:endParaRPr lang="ar-EG" sz="1600" dirty="0"/>
          </a:p>
          <a:p>
            <a:pPr algn="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حازم · المساعد الرقمي</a:t>
            </a:r>
            <a:endParaRPr lang="ar-EG" sz="1600" dirty="0"/>
          </a:p>
        </p:txBody>
      </p:sp>
      <p:sp>
        <p:nvSpPr>
          <p:cNvPr id="9" name="Shape 7"/>
          <p:cNvSpPr/>
          <p:nvPr/>
        </p:nvSpPr>
        <p:spPr>
          <a:xfrm>
            <a:off x="1133856" y="1280160"/>
            <a:ext cx="3401568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B9C6C1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1133856" y="128016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accent6"/>
                </a:solidFill>
              </a:rPr>
              <a:t>كارت العميل عند الأستاذ</a:t>
            </a:r>
            <a:endParaRPr lang="ar-EG" sz="1100" dirty="0"/>
          </a:p>
        </p:txBody>
      </p:sp>
      <p:sp>
        <p:nvSpPr>
          <p:cNvPr id="11" name="Shape 9"/>
          <p:cNvSpPr/>
          <p:nvPr/>
        </p:nvSpPr>
        <p:spPr>
          <a:xfrm>
            <a:off x="1333561" y="1700784"/>
            <a:ext cx="3585911" cy="1673098"/>
          </a:xfrm>
          <a:prstGeom prst="roundRect">
            <a:avLst>
              <a:gd name="adj" fmla="val 655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5400" dist="127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1470721" y="1773936"/>
            <a:ext cx="3311591" cy="138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الاسم: أحمد محمود عبد الله السيد</a:t>
            </a:r>
            <a:endParaRPr lang="ar-EG" sz="14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الخدمة: مقابلة في المكتب · مدفوع ✅</a:t>
            </a:r>
            <a:endParaRPr lang="ar-EG" sz="14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كلامه زي ما كتبه، وتفريغ أي فويس، والورق اللي بعته</a:t>
            </a:r>
            <a:endParaRPr lang="ar-EG" sz="1400" dirty="0"/>
          </a:p>
          <a:p>
            <a:pPr rtl="1" algn="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جاي منين: إعلان واتساب</a:t>
            </a:r>
            <a:endParaRPr lang="ar-EG" sz="1400" dirty="0"/>
          </a:p>
        </p:txBody>
      </p:sp>
      <p:sp>
        <p:nvSpPr>
          <p:cNvPr id="13" name="behind the scenes 08"/>
          <p:cNvSpPr/>
          <p:nvPr/>
        </p:nvSpPr>
        <p:spPr>
          <a:xfrm>
            <a:off x="5577840" y="1828800"/>
            <a:ext cx="6065215" cy="4023360"/>
          </a:xfrm>
          <a:prstGeom prst="roundRect">
            <a:avLst>
              <a:gd name="adj" fmla="val 3182"/>
            </a:avLst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214884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3"/>
                </a:solidFill>
              </a:rPr>
              <a:t>ورا الكواليس · الأستاذ</a:t>
            </a:r>
            <a:endParaRPr lang="ar-EG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697480"/>
            <a:ext cx="533369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EG" altLang="en-US" sz="2000" dirty="0">
                <a:solidFill>
                  <a:schemeClr val="bg1"/>
                </a:solidFill>
              </a:rPr>
              <a:t>الأستاذ بيدخل الاستشارة وهو عارف الموضوع من غير ما يقرا المحادثة كلها. والرأي القانوني كله من عنده.</a:t>
            </a:r>
            <a:endParaRPr lang="ar-EG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الحالات اللي بتحصل كل يوم</a:t>
            </a:r>
            <a:endParaRPr lang="en-US" sz="3600" dirty="0"/>
          </a:p>
        </p:txBody>
      </p:sp>
      <p:sp>
        <p:nvSpPr>
          <p:cNvPr id="3" name="side case 1"/>
          <p:cNvSpPr/>
          <p:nvPr/>
        </p:nvSpPr>
        <p:spPr>
          <a:xfrm>
            <a:off x="8158277" y="137160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432597" y="157276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فويس بدل كتابة</a:t>
            </a:r>
            <a:endParaRPr lang="ar-EG" sz="1800" dirty="0"/>
          </a:p>
        </p:txBody>
      </p:sp>
      <p:sp>
        <p:nvSpPr>
          <p:cNvPr id="5" name="Shape 3"/>
          <p:cNvSpPr/>
          <p:nvPr/>
        </p:nvSpPr>
        <p:spPr>
          <a:xfrm>
            <a:off x="8432597" y="205740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69757" y="205740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(رسالة صوتية 0:42)</a:t>
            </a:r>
            <a:endParaRPr lang="ar-EG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32597" y="274320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الفويس بيتفرّغ لنص بالعربي، والتسجيل الأصلي بيتحفظ.</a:t>
            </a:r>
            <a:endParaRPr lang="ar-EG" sz="1400" dirty="0"/>
          </a:p>
        </p:txBody>
      </p:sp>
      <p:sp>
        <p:nvSpPr>
          <p:cNvPr id="8" name="side case 2"/>
          <p:cNvSpPr/>
          <p:nvPr/>
        </p:nvSpPr>
        <p:spPr>
          <a:xfrm>
            <a:off x="4353458" y="137160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27778" y="157276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«مستعجل»</a:t>
            </a:r>
            <a:endParaRPr lang="ar-EG" sz="1800" dirty="0"/>
          </a:p>
        </p:txBody>
      </p:sp>
      <p:sp>
        <p:nvSpPr>
          <p:cNvPr id="10" name="Shape 8"/>
          <p:cNvSpPr/>
          <p:nvPr/>
        </p:nvSpPr>
        <p:spPr>
          <a:xfrm>
            <a:off x="4627778" y="205740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64938" y="205740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استلمنا طلبك العاجل وبلغنا الأستاذ.</a:t>
            </a:r>
            <a:endParaRPr lang="ar-EG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27778" y="274320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تنبيه فوري للأستاذ وحده، وهو يقبل أو يرفض. العاجلة بالتليفون بـ1,000‏ جنيه.</a:t>
            </a:r>
            <a:endParaRPr lang="ar-EG" sz="1400" dirty="0"/>
          </a:p>
        </p:txBody>
      </p:sp>
      <p:sp>
        <p:nvSpPr>
          <p:cNvPr id="13" name="side case 3"/>
          <p:cNvSpPr/>
          <p:nvPr/>
        </p:nvSpPr>
        <p:spPr>
          <a:xfrm>
            <a:off x="548640" y="137160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157276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موكل حالي</a:t>
            </a:r>
            <a:endParaRPr lang="ar-EG" sz="1800" dirty="0"/>
          </a:p>
        </p:txBody>
      </p:sp>
      <p:sp>
        <p:nvSpPr>
          <p:cNvPr id="15" name="Shape 13"/>
          <p:cNvSpPr/>
          <p:nvPr/>
        </p:nvSpPr>
        <p:spPr>
          <a:xfrm>
            <a:off x="822960" y="205740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205740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رسالتك وصلت للمكتب، وهيرد عليك المسؤول.</a:t>
            </a:r>
            <a:endParaRPr lang="ar-EG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74320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حازم ما بيأكدش ولا بينفي إن حد موكل، ولا بيقول أي معلومة عن قضية.</a:t>
            </a:r>
            <a:endParaRPr lang="ar-EG" sz="1400" dirty="0"/>
          </a:p>
        </p:txBody>
      </p:sp>
      <p:sp>
        <p:nvSpPr>
          <p:cNvPr id="18" name="side case 4"/>
          <p:cNvSpPr/>
          <p:nvPr/>
        </p:nvSpPr>
        <p:spPr>
          <a:xfrm>
            <a:off x="8158277" y="397764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32597" y="417880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الموظف دخل المحادثة</a:t>
            </a:r>
            <a:endParaRPr lang="ar-EG" sz="1800" dirty="0"/>
          </a:p>
        </p:txBody>
      </p:sp>
      <p:sp>
        <p:nvSpPr>
          <p:cNvPr id="20" name="Shape 18"/>
          <p:cNvSpPr/>
          <p:nvPr/>
        </p:nvSpPr>
        <p:spPr>
          <a:xfrm>
            <a:off x="8432597" y="466344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69757" y="466344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(حازم بيسكت)</a:t>
            </a:r>
            <a:endParaRPr lang="ar-EG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32597" y="534924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أول ما موظف يرد بنفسه، حازم يقف لحد ما الموظف يرجّعها.</a:t>
            </a:r>
            <a:endParaRPr lang="ar-EG" sz="1400" dirty="0"/>
          </a:p>
        </p:txBody>
      </p:sp>
      <p:sp>
        <p:nvSpPr>
          <p:cNvPr id="23" name="side case 5"/>
          <p:cNvSpPr/>
          <p:nvPr/>
        </p:nvSpPr>
        <p:spPr>
          <a:xfrm>
            <a:off x="4353458" y="397764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627778" y="417880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زواج أو طلاق عرفي</a:t>
            </a:r>
            <a:endParaRPr lang="ar-EG" sz="1800" dirty="0"/>
          </a:p>
        </p:txBody>
      </p:sp>
      <p:sp>
        <p:nvSpPr>
          <p:cNvPr id="25" name="Shape 23"/>
          <p:cNvSpPr/>
          <p:nvPr/>
        </p:nvSpPr>
        <p:spPr>
          <a:xfrm>
            <a:off x="4627778" y="466344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64938" y="466344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سن الزوج كام، وسن الزوجة كام؟</a:t>
            </a:r>
            <a:endParaRPr lang="ar-EG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627778" y="534924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سؤال واحد في كل رسالة وبترتيب ثابت، والأستاذ بيراجع قبل الميعاد.</a:t>
            </a:r>
            <a:endParaRPr lang="ar-EG" sz="1400" dirty="0"/>
          </a:p>
        </p:txBody>
      </p:sp>
      <p:sp>
        <p:nvSpPr>
          <p:cNvPr id="28" name="side case 6"/>
          <p:cNvSpPr/>
          <p:nvPr/>
        </p:nvSpPr>
        <p:spPr>
          <a:xfrm>
            <a:off x="548640" y="3977640"/>
            <a:ext cx="3484778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4178808"/>
            <a:ext cx="29361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b="1" dirty="0">
                <a:solidFill>
                  <a:schemeClr val="tx1"/>
                </a:solidFill>
              </a:rPr>
              <a:t>ملف كبير أو غريب</a:t>
            </a:r>
            <a:endParaRPr lang="ar-EG" sz="1800" dirty="0"/>
          </a:p>
        </p:txBody>
      </p:sp>
      <p:sp>
        <p:nvSpPr>
          <p:cNvPr id="30" name="Shape 28"/>
          <p:cNvSpPr/>
          <p:nvPr/>
        </p:nvSpPr>
        <p:spPr>
          <a:xfrm>
            <a:off x="822960" y="4663440"/>
            <a:ext cx="2936138" cy="566928"/>
          </a:xfrm>
          <a:prstGeom prst="roundRect">
            <a:avLst>
              <a:gd name="adj" fmla="val 16129"/>
            </a:avLst>
          </a:prstGeom>
          <a:solidFill>
            <a:schemeClr val="accent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0120" y="4663440"/>
            <a:ext cx="26618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(أكبر من 50‏ ميجا، أو ملف تنفيذي)</a:t>
            </a:r>
            <a:endParaRPr lang="ar-EG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349240"/>
            <a:ext cx="2936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الملف ما بيتنزلش، والسبب بيتسجل، والرد من النصوص المعتمدة.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جزء بيتكلم مع واتساب، وجزء بيفكّر</a:t>
            </a:r>
            <a:endParaRPr lang="en-US" sz="3600" dirty="0"/>
          </a:p>
        </p:txBody>
      </p:sp>
      <p:sp>
        <p:nvSpPr>
          <p:cNvPr id="3" name="architecture العميل"/>
          <p:cNvSpPr/>
          <p:nvPr/>
        </p:nvSpPr>
        <p:spPr>
          <a:xfrm>
            <a:off x="9539935" y="141732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768535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العميل</a:t>
            </a:r>
            <a:endParaRPr lang="ar-EG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768535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2"/>
                </a:solidFill>
              </a:rPr>
              <a:t>WhatsApp</a:t>
            </a:r>
            <a:endParaRPr lang="ar-EG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9722815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• نص، وفويس، وصور، ومستندات</a:t>
            </a:r>
            <a:endParaRPr lang="ar-EG" sz="1300" dirty="0"/>
          </a:p>
        </p:txBody>
      </p:sp>
      <p:sp>
        <p:nvSpPr>
          <p:cNvPr id="7" name="Shape 5"/>
          <p:cNvSpPr/>
          <p:nvPr/>
        </p:nvSpPr>
        <p:spPr>
          <a:xfrm>
            <a:off x="8719109" y="2788920"/>
            <a:ext cx="747674" cy="0"/>
          </a:xfrm>
          <a:prstGeom prst="line">
            <a:avLst/>
          </a:prstGeom>
          <a:noFill/>
          <a:ln w="19050">
            <a:solidFill>
              <a:srgbClr val="56665F"/>
            </a:solidFill>
            <a:prstDash val="solid"/>
            <a:headEnd type="triangle"/>
          </a:ln>
        </p:spPr>
      </p:sp>
      <p:sp>
        <p:nvSpPr>
          <p:cNvPr id="8" name="Text 6"/>
          <p:cNvSpPr txBox="1"/>
          <p:nvPr/>
        </p:nvSpPr>
        <p:spPr>
          <a:xfrm>
            <a:off x="8719109" y="2898648"/>
            <a:ext cx="747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accent6"/>
                </a:solidFill>
              </a:rPr>
              <a:t>Meta Cloud API</a:t>
            </a:r>
            <a:endParaRPr lang="ar-EG" sz="1000" dirty="0"/>
          </a:p>
        </p:txBody>
      </p:sp>
      <p:sp>
        <p:nvSpPr>
          <p:cNvPr id="9" name="architecture طبقة الواتساب"/>
          <p:cNvSpPr/>
          <p:nvPr/>
        </p:nvSpPr>
        <p:spPr>
          <a:xfrm>
            <a:off x="6542837" y="141732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71437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طبقة الواتساب</a:t>
            </a:r>
            <a:endParaRPr lang="ar-EG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771437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</a:rPr>
              <a:t>n8n</a:t>
            </a:r>
            <a:endParaRPr lang="ar-EG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25717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يتأكد إن الرسالة جاية من واتساب فعلًا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يمنع التكرار ويجمع الـ 8‏ ثواني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ينزّل الميديا ويفرّغ الفويس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مفيش فيه أي قرار</a:t>
            </a:r>
            <a:endParaRPr lang="ar-EG" sz="1300" dirty="0"/>
          </a:p>
        </p:txBody>
      </p:sp>
      <p:sp>
        <p:nvSpPr>
          <p:cNvPr id="13" name="Shape 11"/>
          <p:cNvSpPr/>
          <p:nvPr/>
        </p:nvSpPr>
        <p:spPr>
          <a:xfrm>
            <a:off x="5722010" y="2788920"/>
            <a:ext cx="747674" cy="0"/>
          </a:xfrm>
          <a:prstGeom prst="line">
            <a:avLst/>
          </a:prstGeom>
          <a:noFill/>
          <a:ln w="19050">
            <a:solidFill>
              <a:srgbClr val="56665F"/>
            </a:solidFill>
            <a:prstDash val="solid"/>
            <a:headEnd type="triangle"/>
          </a:ln>
        </p:spPr>
      </p:sp>
      <p:sp>
        <p:nvSpPr>
          <p:cNvPr id="14" name="Text 12"/>
          <p:cNvSpPr txBox="1"/>
          <p:nvPr/>
        </p:nvSpPr>
        <p:spPr>
          <a:xfrm>
            <a:off x="5722010" y="2898648"/>
            <a:ext cx="747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accent6"/>
                </a:solidFill>
              </a:rPr>
              <a:t>API داخلي بتوكن</a:t>
            </a:r>
            <a:endParaRPr lang="ar-EG" sz="1000" dirty="0"/>
          </a:p>
        </p:txBody>
      </p:sp>
      <p:sp>
        <p:nvSpPr>
          <p:cNvPr id="15" name="architecture العقل"/>
          <p:cNvSpPr/>
          <p:nvPr/>
        </p:nvSpPr>
        <p:spPr>
          <a:xfrm>
            <a:off x="3545738" y="141732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774338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bg1"/>
                </a:solidFill>
              </a:rPr>
              <a:t>العقل</a:t>
            </a:r>
            <a:endParaRPr lang="ar-EG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774338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200" dirty="0">
                <a:solidFill>
                  <a:schemeClr val="accent3"/>
                </a:solidFill>
              </a:rPr>
              <a:t>ASP.NET Core</a:t>
            </a:r>
            <a:endParaRPr lang="ar-EG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728618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يفهم نية العميل (نص بس)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يمشّي مراحل الحجز والدفع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bg1"/>
                </a:solidFill>
              </a:rPr>
              <a:t>• يختار الرد المعتمد</a:t>
            </a:r>
            <a:endParaRPr lang="ar-EG" sz="1300" dirty="0"/>
          </a:p>
        </p:txBody>
      </p:sp>
      <p:sp>
        <p:nvSpPr>
          <p:cNvPr id="19" name="Shape 17"/>
          <p:cNvSpPr/>
          <p:nvPr/>
        </p:nvSpPr>
        <p:spPr>
          <a:xfrm>
            <a:off x="2724912" y="2788920"/>
            <a:ext cx="747674" cy="0"/>
          </a:xfrm>
          <a:prstGeom prst="line">
            <a:avLst/>
          </a:prstGeom>
          <a:noFill/>
          <a:ln w="19050">
            <a:solidFill>
              <a:srgbClr val="56665F"/>
            </a:solidFill>
            <a:prstDash val="solid"/>
            <a:headEnd type="triangle"/>
          </a:ln>
        </p:spPr>
      </p:sp>
      <p:sp>
        <p:nvSpPr>
          <p:cNvPr id="20" name="Text 18"/>
          <p:cNvSpPr txBox="1"/>
          <p:nvPr/>
        </p:nvSpPr>
        <p:spPr>
          <a:xfrm>
            <a:off x="2724912" y="2898648"/>
            <a:ext cx="74767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accent6"/>
                </a:solidFill>
              </a:rPr>
              <a:t>مهام وتنبيهات</a:t>
            </a:r>
            <a:endParaRPr lang="ar-EG" sz="1000" dirty="0"/>
          </a:p>
        </p:txBody>
      </p:sp>
      <p:sp>
        <p:nvSpPr>
          <p:cNvPr id="21" name="architecture المكتب"/>
          <p:cNvSpPr/>
          <p:nvPr/>
        </p:nvSpPr>
        <p:spPr>
          <a:xfrm>
            <a:off x="548640" y="1417320"/>
            <a:ext cx="2103120" cy="274320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المكتب</a:t>
            </a:r>
            <a:endParaRPr lang="ar-EG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2011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200" dirty="0">
                <a:solidFill>
                  <a:schemeClr val="accent2"/>
                </a:solidFill>
              </a:rPr>
              <a:t>الموظف والأستاذ</a:t>
            </a:r>
            <a:endParaRPr lang="ar-EG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37744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• الموظف يراجع ويحدد</a:t>
            </a:r>
            <a:endParaRPr lang="ar-EG" sz="1300" dirty="0"/>
          </a:p>
          <a:p>
            <a:pPr algn="r" indent="0" marL="0">
              <a:spcAft>
                <a:spcPts val="400"/>
              </a:spcAft>
              <a:buNone/>
            </a:pPr>
            <a:r>
              <a:rPr lang="ar-EG" altLang="en-US" sz="1300" dirty="0">
                <a:solidFill>
                  <a:schemeClr val="tx1"/>
                </a:solidFill>
              </a:rPr>
              <a:t>• الأستاذ يستشير ويقرر</a:t>
            </a:r>
            <a:endParaRPr lang="ar-EG" sz="1300" dirty="0"/>
          </a:p>
        </p:txBody>
      </p:sp>
      <p:sp>
        <p:nvSpPr>
          <p:cNvPr id="25" name="store قاعدة البيانات"/>
          <p:cNvSpPr/>
          <p:nvPr/>
        </p:nvSpPr>
        <p:spPr>
          <a:xfrm>
            <a:off x="8188757" y="4480560"/>
            <a:ext cx="3454298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B9C6C1"/>
            </a:solidFill>
            <a:prstDash val="dash"/>
          </a:ln>
        </p:spPr>
      </p:sp>
      <p:sp>
        <p:nvSpPr>
          <p:cNvPr id="26" name="Text 24"/>
          <p:cNvSpPr txBox="1"/>
          <p:nvPr/>
        </p:nvSpPr>
        <p:spPr>
          <a:xfrm>
            <a:off x="8417357" y="4590288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قاعدة البيانات</a:t>
            </a:r>
            <a:endParaRPr lang="ar-EG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17357" y="4919472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accent2"/>
                </a:solidFill>
              </a:rPr>
              <a:t>PostgreSQL</a:t>
            </a:r>
            <a:endParaRPr lang="ar-EG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17357" y="519379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accent6"/>
                </a:solidFill>
              </a:rPr>
              <a:t>جداول الواتساب لطبقة الواتساب بس، وجداول البيزنس للعقل بس</a:t>
            </a:r>
            <a:endParaRPr lang="ar-EG" sz="1300" dirty="0"/>
          </a:p>
        </p:txBody>
      </p:sp>
      <p:sp>
        <p:nvSpPr>
          <p:cNvPr id="29" name="store مخزن الملفات"/>
          <p:cNvSpPr/>
          <p:nvPr/>
        </p:nvSpPr>
        <p:spPr>
          <a:xfrm>
            <a:off x="4368698" y="4480560"/>
            <a:ext cx="3454298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B9C6C1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4597298" y="4590288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مخزن الملفات</a:t>
            </a:r>
            <a:endParaRPr lang="ar-EG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97298" y="4919472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accent2"/>
                </a:solidFill>
              </a:rPr>
              <a:t>Cloudflare R2</a:t>
            </a:r>
            <a:endParaRPr lang="ar-EG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4597298" y="519379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accent6"/>
                </a:solidFill>
              </a:rPr>
              <a:t>مخزن للملفات الحساسة لوحده، والعقل بياخد مراجع بس</a:t>
            </a:r>
            <a:endParaRPr lang="ar-EG" sz="1300" dirty="0"/>
          </a:p>
        </p:txBody>
      </p:sp>
      <p:sp>
        <p:nvSpPr>
          <p:cNvPr id="33" name="store الذكاء الاصطناعي"/>
          <p:cNvSpPr/>
          <p:nvPr/>
        </p:nvSpPr>
        <p:spPr>
          <a:xfrm>
            <a:off x="548640" y="4480560"/>
            <a:ext cx="3454298" cy="1417320"/>
          </a:xfrm>
          <a:prstGeom prst="roundRect">
            <a:avLst>
              <a:gd name="adj" fmla="val 7742"/>
            </a:avLst>
          </a:prstGeom>
          <a:solidFill>
            <a:schemeClr val="bg1"/>
          </a:solidFill>
          <a:ln w="12700">
            <a:solidFill>
              <a:srgbClr val="B9C6C1"/>
            </a:solidFill>
            <a:prstDash val="dash"/>
          </a:ln>
        </p:spPr>
      </p:sp>
      <p:sp>
        <p:nvSpPr>
          <p:cNvPr id="34" name="Text 32"/>
          <p:cNvSpPr txBox="1"/>
          <p:nvPr/>
        </p:nvSpPr>
        <p:spPr>
          <a:xfrm>
            <a:off x="777240" y="4590288"/>
            <a:ext cx="29970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الذكاء الاصطناعي</a:t>
            </a:r>
            <a:endParaRPr lang="ar-EG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4919472"/>
            <a:ext cx="29970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EG" altLang="en-US" sz="1100" dirty="0">
                <a:solidFill>
                  <a:schemeClr val="accent2"/>
                </a:solidFill>
              </a:rPr>
              <a:t>OpenAI</a:t>
            </a:r>
            <a:endParaRPr lang="ar-EG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193792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accent6"/>
                </a:solidFill>
              </a:rPr>
              <a:t>تفريغ الفويس وفهم النص. صفر صور أو مستندات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حاجات حازم مش بيعملها أبدًا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637215" y="1490472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0637215" y="1490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T-07</a:t>
            </a:r>
            <a:endParaRPr lang="ar-EG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370168" y="14356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بيقولش رأي قانوني</a:t>
            </a:r>
            <a:endParaRPr lang="ar-EG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370168" y="1920240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مفيش «قضيتك مضمونة» ولا «العقد ده سليم». السؤال القانوني مكانه الاستشارة.</a:t>
            </a:r>
            <a:endParaRPr lang="ar-EG" sz="1500" dirty="0"/>
          </a:p>
        </p:txBody>
      </p:sp>
      <p:sp>
        <p:nvSpPr>
          <p:cNvPr id="7" name="Shape 5"/>
          <p:cNvSpPr/>
          <p:nvPr/>
        </p:nvSpPr>
        <p:spPr>
          <a:xfrm>
            <a:off x="4815688" y="1490472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15688" y="149047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T-09</a:t>
            </a:r>
            <a:endParaRPr lang="ar-EG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4356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بيبعتش ورق لأي AI</a:t>
            </a:r>
            <a:endParaRPr lang="ar-EG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920240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البطاقات والإيصالات والعقود بتتحفظ في مخزن حساس، وما بتطلعش برا.</a:t>
            </a:r>
            <a:endParaRPr lang="ar-EG" sz="1500" dirty="0"/>
          </a:p>
        </p:txBody>
      </p:sp>
      <p:sp>
        <p:nvSpPr>
          <p:cNvPr id="11" name="Shape 9"/>
          <p:cNvSpPr/>
          <p:nvPr/>
        </p:nvSpPr>
        <p:spPr>
          <a:xfrm>
            <a:off x="10637215" y="297180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37215" y="2971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T-19</a:t>
            </a:r>
            <a:endParaRPr lang="ar-EG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370168" y="2916936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بيبعتش نفس الرسالة مرتين</a:t>
            </a:r>
            <a:endParaRPr lang="ar-EG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70168" y="3401568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كل رسالة ليها مفتاح مميز، فحتى لو حاجة اتعادت ما تتكررش عند العميل.</a:t>
            </a:r>
            <a:endParaRPr lang="ar-EG" sz="1500" dirty="0"/>
          </a:p>
        </p:txBody>
      </p:sp>
      <p:sp>
        <p:nvSpPr>
          <p:cNvPr id="15" name="Shape 13"/>
          <p:cNvSpPr/>
          <p:nvPr/>
        </p:nvSpPr>
        <p:spPr>
          <a:xfrm>
            <a:off x="4815688" y="2971800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15688" y="29718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M-02</a:t>
            </a:r>
            <a:endParaRPr lang="ar-EG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16936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بيخالفش قواعد واتساب</a:t>
            </a:r>
            <a:endParaRPr lang="ar-EG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01568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بعد 24‏ ساعة من آخر رسالة للعميل، مفيش غير قوالب معتمدة من Meta.</a:t>
            </a:r>
            <a:endParaRPr lang="ar-EG" sz="1500" dirty="0"/>
          </a:p>
        </p:txBody>
      </p:sp>
      <p:sp>
        <p:nvSpPr>
          <p:cNvPr id="19" name="Shape 17"/>
          <p:cNvSpPr/>
          <p:nvPr/>
        </p:nvSpPr>
        <p:spPr>
          <a:xfrm>
            <a:off x="10637215" y="4453128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637215" y="44531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الأسعار</a:t>
            </a:r>
            <a:endParaRPr lang="ar-EG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4398264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بيخترعش سعر ولا خصم</a:t>
            </a:r>
            <a:endParaRPr lang="ar-EG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6370168" y="4882896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الأسعار من جدول المكتب بس، وأي استثناء بيروح للمسؤول.</a:t>
            </a:r>
            <a:endParaRPr lang="ar-EG" sz="1500" dirty="0"/>
          </a:p>
        </p:txBody>
      </p:sp>
      <p:sp>
        <p:nvSpPr>
          <p:cNvPr id="23" name="Shape 21"/>
          <p:cNvSpPr/>
          <p:nvPr/>
        </p:nvSpPr>
        <p:spPr>
          <a:xfrm>
            <a:off x="4815688" y="4453128"/>
            <a:ext cx="100584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15688" y="445312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B-12</a:t>
            </a:r>
            <a:endParaRPr lang="ar-EG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398264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b="1" dirty="0">
                <a:solidFill>
                  <a:schemeClr val="tx1"/>
                </a:solidFill>
              </a:rPr>
              <a:t>ما بيتكلمش فوق الموظف</a:t>
            </a:r>
            <a:endParaRPr lang="ar-EG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82896"/>
            <a:ext cx="4038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6"/>
                </a:solidFill>
              </a:rPr>
              <a:t>أول ما الموظف يرد، حازم يسكت.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محتاجين إيه من المكتب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140135" y="14813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140135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1</a:t>
            </a:r>
            <a:endParaRPr lang="ar-EG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53312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عند Meta</a:t>
            </a:r>
            <a:endParaRPr lang="ar-EG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توثيق النشاط</a:t>
            </a:r>
            <a:endParaRPr lang="ar-EG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20240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Business Verification، وبياخد أيام. وبعده اسم العرض «مكتب الأستاذ سعد فتحي سعد».</a:t>
            </a:r>
            <a:endParaRPr lang="ar-EG" sz="1400" dirty="0"/>
          </a:p>
        </p:txBody>
      </p:sp>
      <p:sp>
        <p:nvSpPr>
          <p:cNvPr id="8" name="Shape 6"/>
          <p:cNvSpPr/>
          <p:nvPr/>
        </p:nvSpPr>
        <p:spPr>
          <a:xfrm>
            <a:off x="11140135" y="2414016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140135" y="24140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2</a:t>
            </a:r>
            <a:endParaRPr lang="ar-EG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286000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عند Meta</a:t>
            </a:r>
            <a:endParaRPr lang="ar-EG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05456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تطبيق Meta ومفاتيحه</a:t>
            </a:r>
            <a:endParaRPr lang="ar-EG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852928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App وحساب واتساب للأعمال وtoken دائم، ويتدخلوا مباشرة في النظام.</a:t>
            </a:r>
            <a:endParaRPr lang="ar-EG" sz="1400" dirty="0"/>
          </a:p>
        </p:txBody>
      </p:sp>
      <p:sp>
        <p:nvSpPr>
          <p:cNvPr id="13" name="Shape 11"/>
          <p:cNvSpPr/>
          <p:nvPr/>
        </p:nvSpPr>
        <p:spPr>
          <a:xfrm>
            <a:off x="11140135" y="3346704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40135" y="3346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3</a:t>
            </a:r>
            <a:endParaRPr lang="ar-EG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218688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المكتب</a:t>
            </a:r>
            <a:endParaRPr lang="ar-EG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38144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بيانات التشغيل</a:t>
            </a:r>
            <a:endParaRPr lang="ar-EG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85616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العنوان، ورقم التواصل، وبيانات InstaPay والمحفظة، والموظفين، والموكلين الحاليين.</a:t>
            </a:r>
            <a:endParaRPr lang="ar-EG" sz="1400" dirty="0"/>
          </a:p>
        </p:txBody>
      </p:sp>
      <p:sp>
        <p:nvSpPr>
          <p:cNvPr id="18" name="Shape 16"/>
          <p:cNvSpPr/>
          <p:nvPr/>
        </p:nvSpPr>
        <p:spPr>
          <a:xfrm>
            <a:off x="11140135" y="4279392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140135" y="4279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4</a:t>
            </a:r>
            <a:endParaRPr lang="ar-EG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51376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قرار المكتب</a:t>
            </a:r>
            <a:endParaRPr lang="ar-EG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370832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نقل رقم المكتب</a:t>
            </a:r>
            <a:endParaRPr lang="ar-EG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18304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بعد التجربة على رقم اختبار، ومع backup لمحادثات الواتساب الحالية.</a:t>
            </a:r>
            <a:endParaRPr lang="ar-EG" sz="1400" dirty="0"/>
          </a:p>
        </p:txBody>
      </p:sp>
      <p:sp>
        <p:nvSpPr>
          <p:cNvPr id="23" name="Shape 21"/>
          <p:cNvSpPr/>
          <p:nvPr/>
        </p:nvSpPr>
        <p:spPr>
          <a:xfrm>
            <a:off x="11140135" y="5212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140135" y="5212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EG" altLang="en-US" sz="1800" b="1" dirty="0">
                <a:solidFill>
                  <a:schemeClr val="bg1"/>
                </a:solidFill>
              </a:rPr>
              <a:t>5</a:t>
            </a:r>
            <a:endParaRPr lang="ar-EG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084064"/>
            <a:ext cx="103171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2"/>
                </a:solidFill>
              </a:rPr>
              <a:t>قبل الإطلاق</a:t>
            </a:r>
            <a:endParaRPr lang="ar-EG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03520"/>
            <a:ext cx="103171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b="1" dirty="0">
                <a:solidFill>
                  <a:schemeClr val="tx1"/>
                </a:solidFill>
              </a:rPr>
              <a:t>دومين وسيرفر</a:t>
            </a:r>
            <a:endParaRPr lang="ar-EG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650992"/>
            <a:ext cx="103171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accent6"/>
                </a:solidFill>
              </a:rPr>
              <a:t>رابط ثابت وسيرفر للإنتاج، بدل الرابط المؤقت بتاع الاختبار.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rtl="1" algn="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الخطوة الجاية</a:t>
            </a:r>
            <a:endParaRPr lang="en-US" sz="7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56616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dirty="0">
                <a:solidFill>
                  <a:schemeClr val="bg1"/>
                </a:solidFill>
              </a:rPr>
              <a:t>فهم حازم: تصنيف نية العميل والردود المعتمدة</a:t>
            </a:r>
            <a:endParaRPr lang="en-US" sz="2400" dirty="0"/>
          </a:p>
          <a:p>
            <a:pPr algn="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وبالتوازي: المكتب يبدأ توثيق Meta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zem Storyboard">
  <a:themeElements>
    <a:clrScheme name="Hazem Storyboard">
      <a:dk1>
        <a:srgbClr val="13201D"/>
      </a:dk1>
      <a:lt1>
        <a:srgbClr val="FFFFFF"/>
      </a:lt1>
      <a:dk2>
        <a:srgbClr val="0E6A59"/>
      </a:dk2>
      <a:lt2>
        <a:srgbClr val="EEF2F1"/>
      </a:lt2>
      <a:accent1>
        <a:srgbClr val="0E6A59"/>
      </a:accent1>
      <a:accent2>
        <a:srgbClr val="9A7128"/>
      </a:accent2>
      <a:accent3>
        <a:srgbClr val="D8EEE6"/>
      </a:accent3>
      <a:accent4>
        <a:srgbClr val="1D7A4E"/>
      </a:accent4>
      <a:accent5>
        <a:srgbClr val="9A6A12"/>
      </a:accent5>
      <a:accent6>
        <a:srgbClr val="56665F"/>
      </a:accent6>
      <a:hlink>
        <a:srgbClr val="0E6A59"/>
      </a:hlink>
      <a:folHlink>
        <a:srgbClr val="56665F"/>
      </a:folHlink>
    </a:clrScheme>
    <a:fontScheme name="Hazem Storyboar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ستوري بورد حازم</dc:title>
  <dc:subject>PptxGenJS Presentation</dc:subject>
  <dc:creator>مشروع حازم</dc:creator>
  <cp:lastModifiedBy>مشروع حازم</cp:lastModifiedBy>
  <cp:revision>1</cp:revision>
  <dcterms:created xsi:type="dcterms:W3CDTF">2026-10-21T10:57:46Z</dcterms:created>
  <dcterms:modified xsi:type="dcterms:W3CDTF">2026-10-21T10:57:46Z</dcterms:modified>
</cp:coreProperties>
</file>